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0B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955279" y="-731520"/>
            <a:ext cx="5029200" cy="8229600"/>
          </a:xfrm>
          <a:prstGeom prst="roundRect">
            <a:avLst/>
          </a:prstGeom>
          <a:solidFill>
            <a:srgbClr val="875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0" y="914400"/>
            <a:ext cx="3200400" cy="5212080"/>
          </a:xfrm>
          <a:prstGeom prst="roundRect">
            <a:avLst/>
          </a:prstGeom>
          <a:solidFill>
            <a:srgbClr val="F5C4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914400"/>
            <a:ext cx="4114800" cy="73152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/>
            <a:r>
              <a:rPr sz="1800" b="1">
                <a:solidFill>
                  <a:srgbClr val="F5C46B"/>
                </a:solidFill>
                <a:latin typeface="Aptos"/>
              </a:rPr>
              <a:t>LEI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7863840" cy="164592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/>
            <a:r>
              <a:rPr sz="3800" b="1">
                <a:solidFill>
                  <a:srgbClr val="F4E8EE"/>
                </a:solidFill>
                <a:latin typeface="Aptos Display"/>
              </a:rPr>
              <a:t>From isolation
to momentum.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86200"/>
            <a:ext cx="6675120" cy="82296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/>
            <a:r>
              <a:rPr sz="2000" b="0">
                <a:solidFill>
                  <a:srgbClr val="F4E8EE"/>
                </a:solidFill>
                <a:latin typeface="Aptos"/>
              </a:rPr>
              <a:t>A protected ecosystem where women learn, grow careers,
and build meaningful connections.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212080"/>
            <a:ext cx="6675120" cy="36576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/>
            <a:r>
              <a:rPr sz="1300" b="1">
                <a:solidFill>
                  <a:srgbClr val="F5C46B"/>
                </a:solidFill>
                <a:latin typeface="Aptos"/>
              </a:rPr>
              <a:t>Education  |  Career growth  |  Belonging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989320"/>
            <a:ext cx="2743200" cy="22860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/>
            <a:r>
              <a:rPr sz="1000" b="0">
                <a:solidFill>
                  <a:srgbClr val="F4E8EE"/>
                </a:solidFill>
                <a:latin typeface="Aptos"/>
              </a:rPr>
              <a:t>Hackathon demo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6473952"/>
            <a:ext cx="3657600" cy="18288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/>
            <a:r>
              <a:rPr sz="900" b="0">
                <a:solidFill>
                  <a:srgbClr val="F4E8EE"/>
                </a:solidFill>
                <a:latin typeface="Aptos"/>
              </a:rPr>
              <a:t>LEI  /  Hackathon pitch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473952"/>
            <a:ext cx="457200" cy="18288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r"/>
            <a:r>
              <a:rPr sz="900" b="1">
                <a:solidFill>
                  <a:srgbClr val="F5C46B"/>
                </a:solidFill>
                <a:latin typeface="Aptos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38912"/>
            <a:ext cx="4114800" cy="27432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/>
            <a:r>
              <a:rPr sz="1000" b="1">
                <a:solidFill>
                  <a:srgbClr val="875D78"/>
                </a:solidFill>
                <a:latin typeface="Aptos"/>
              </a:rPr>
              <a:t>01  /  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68096"/>
            <a:ext cx="10789920" cy="658368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/>
            <a:r>
              <a:rPr sz="2800" b="1">
                <a:solidFill>
                  <a:srgbClr val="241C17"/>
                </a:solidFill>
                <a:latin typeface="Aptos Display"/>
              </a:rPr>
              <a:t>The opportunity is not another social feed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05840" cy="36576"/>
          </a:xfrm>
          <a:prstGeom prst="rect">
            <a:avLst/>
          </a:prstGeom>
          <a:solidFill>
            <a:srgbClr val="875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965960"/>
            <a:ext cx="10698480" cy="41148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/>
            <a:r>
              <a:rPr sz="2100" b="0">
                <a:solidFill>
                  <a:srgbClr val="241C17"/>
                </a:solidFill>
                <a:latin typeface="Aptos"/>
              </a:rPr>
              <a:t>Women often have to stitch together support from disconnected places: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743200"/>
            <a:ext cx="3337560" cy="22402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743200"/>
            <a:ext cx="91440" cy="2240280"/>
          </a:xfrm>
          <a:prstGeom prst="rect">
            <a:avLst/>
          </a:prstGeom>
          <a:solidFill>
            <a:srgbClr val="875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063240"/>
            <a:ext cx="2651760" cy="347472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/>
            <a:r>
              <a:rPr sz="2200" b="1">
                <a:solidFill>
                  <a:srgbClr val="241C17"/>
                </a:solidFill>
                <a:latin typeface="Aptos"/>
              </a:rPr>
              <a:t>Learn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566160"/>
            <a:ext cx="2697480" cy="100584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/>
            <a:r>
              <a:rPr sz="1500" b="0">
                <a:solidFill>
                  <a:srgbClr val="786B62"/>
                </a:solidFill>
                <a:latin typeface="Aptos"/>
              </a:rPr>
              <a:t>Campus resources and practical knowledge are hard to find at the moment they matter.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26280" y="2743200"/>
            <a:ext cx="3337560" cy="22402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26280" y="2743200"/>
            <a:ext cx="91440" cy="2240280"/>
          </a:xfrm>
          <a:prstGeom prst="rect">
            <a:avLst/>
          </a:prstGeom>
          <a:solidFill>
            <a:srgbClr val="F5C4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3063240"/>
            <a:ext cx="2651760" cy="347472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/>
            <a:r>
              <a:rPr sz="2200" b="1">
                <a:solidFill>
                  <a:srgbClr val="241C17"/>
                </a:solidFill>
                <a:latin typeface="Aptos"/>
              </a:rPr>
              <a:t>Grow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3566160"/>
            <a:ext cx="2697480" cy="100584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/>
            <a:r>
              <a:rPr sz="1500" b="0">
                <a:solidFill>
                  <a:srgbClr val="786B62"/>
                </a:solidFill>
                <a:latin typeface="Aptos"/>
              </a:rPr>
              <a:t>Career advice is scattered across cold networking, generic content, and one-off events.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21040" y="2743200"/>
            <a:ext cx="3337560" cy="22402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21040" y="2743200"/>
            <a:ext cx="91440" cy="2240280"/>
          </a:xfrm>
          <a:prstGeom prst="rect">
            <a:avLst/>
          </a:prstGeom>
          <a:solidFill>
            <a:srgbClr val="2D8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3063240"/>
            <a:ext cx="2651760" cy="347472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/>
            <a:r>
              <a:rPr sz="2200" b="1">
                <a:solidFill>
                  <a:srgbClr val="241C17"/>
                </a:solidFill>
                <a:latin typeface="Aptos"/>
              </a:rPr>
              <a:t>Belong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3566160"/>
            <a:ext cx="2697480" cy="100584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/>
            <a:r>
              <a:rPr sz="1500" b="0">
                <a:solidFill>
                  <a:srgbClr val="786B62"/>
                </a:solidFill>
                <a:latin typeface="Aptos"/>
              </a:rPr>
              <a:t>Connection is valuable only when people feel safe enough to ask, share, and return.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486400"/>
            <a:ext cx="10789920" cy="41148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/>
            <a:r>
              <a:rPr sz="2100" b="1">
                <a:solidFill>
                  <a:srgbClr val="875D78"/>
                </a:solidFill>
                <a:latin typeface="Aptos"/>
              </a:rPr>
              <a:t>The gap: support exists, but it is not connected to the woman's next step.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6473952"/>
            <a:ext cx="3657600" cy="18288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/>
            <a:r>
              <a:rPr sz="900" b="0">
                <a:solidFill>
                  <a:srgbClr val="786B62"/>
                </a:solidFill>
                <a:latin typeface="Aptos"/>
              </a:rPr>
              <a:t>LEI  /  Hackathon pitch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64240" y="6473952"/>
            <a:ext cx="457200" cy="18288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r"/>
            <a:r>
              <a:rPr sz="900" b="1">
                <a:solidFill>
                  <a:srgbClr val="875D78"/>
                </a:solidFill>
                <a:latin typeface="Apto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0B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38912"/>
            <a:ext cx="4114800" cy="27432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/>
            <a:r>
              <a:rPr sz="1000" b="1">
                <a:solidFill>
                  <a:srgbClr val="F5C46B"/>
                </a:solidFill>
                <a:latin typeface="Aptos"/>
              </a:rPr>
              <a:t>02  /  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68096"/>
            <a:ext cx="10789920" cy="658368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/>
            <a:r>
              <a:rPr sz="2800" b="1">
                <a:solidFill>
                  <a:srgbClr val="F4E8EE"/>
                </a:solidFill>
                <a:latin typeface="Aptos Display"/>
              </a:rPr>
              <a:t>Lèi turns support into a guided journey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05840" cy="36576"/>
          </a:xfrm>
          <a:prstGeom prst="rect">
            <a:avLst/>
          </a:prstGeom>
          <a:solidFill>
            <a:srgbClr val="F5C4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965960"/>
            <a:ext cx="10698480" cy="41148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/>
            <a:r>
              <a:rPr sz="2100" b="0">
                <a:solidFill>
                  <a:srgbClr val="F4E8EE"/>
                </a:solidFill>
                <a:latin typeface="Aptos"/>
              </a:rPr>
              <a:t>One trusted front door. Three pathways to momentum.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743200"/>
            <a:ext cx="3246120" cy="2286000"/>
          </a:xfrm>
          <a:prstGeom prst="roundRect">
            <a:avLst/>
          </a:prstGeom>
          <a:solidFill>
            <a:srgbClr val="2A1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1" y="2999232"/>
            <a:ext cx="594360" cy="36576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/>
            <a:r>
              <a:rPr sz="1500" b="1">
                <a:solidFill>
                  <a:srgbClr val="F5C46B"/>
                </a:solidFill>
                <a:latin typeface="Apto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1" y="3456432"/>
            <a:ext cx="2560320" cy="41148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/>
            <a:r>
              <a:rPr sz="2500" b="1">
                <a:solidFill>
                  <a:srgbClr val="F4E8EE"/>
                </a:solidFill>
                <a:latin typeface="Aptos Display"/>
              </a:rPr>
              <a:t>Learn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1" y="4069080"/>
            <a:ext cx="2560320" cy="68580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/>
            <a:r>
              <a:rPr sz="1500" b="0">
                <a:solidFill>
                  <a:srgbClr val="F4E8EE"/>
                </a:solidFill>
                <a:latin typeface="Aptos"/>
              </a:rPr>
              <a:t>Campus SOS, student aid, grounding resources, and peer knowledge.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44568" y="2743200"/>
            <a:ext cx="3246120" cy="2286000"/>
          </a:xfrm>
          <a:prstGeom prst="roundRect">
            <a:avLst/>
          </a:prstGeom>
          <a:solidFill>
            <a:srgbClr val="2A1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00600" y="2999232"/>
            <a:ext cx="594360" cy="36576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/>
            <a:r>
              <a:rPr sz="1500" b="1">
                <a:solidFill>
                  <a:srgbClr val="F5C46B"/>
                </a:solidFill>
                <a:latin typeface="Apto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00600" y="3456432"/>
            <a:ext cx="2560320" cy="41148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/>
            <a:r>
              <a:rPr sz="2500" b="1">
                <a:solidFill>
                  <a:srgbClr val="F4E8EE"/>
                </a:solidFill>
                <a:latin typeface="Aptos Display"/>
              </a:rPr>
              <a:t>Grow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4069080"/>
            <a:ext cx="2560320" cy="68580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/>
            <a:r>
              <a:rPr sz="1500" b="0">
                <a:solidFill>
                  <a:srgbClr val="F4E8EE"/>
                </a:solidFill>
                <a:latin typeface="Aptos"/>
              </a:rPr>
              <a:t>Career conversations, AI coaching, milestones, and opportunity sharing.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11896" y="2743200"/>
            <a:ext cx="3246120" cy="2286000"/>
          </a:xfrm>
          <a:prstGeom prst="roundRect">
            <a:avLst/>
          </a:prstGeom>
          <a:solidFill>
            <a:srgbClr val="2A1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67928" y="2999232"/>
            <a:ext cx="594360" cy="36576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/>
            <a:r>
              <a:rPr sz="1500" b="1">
                <a:solidFill>
                  <a:srgbClr val="F5C46B"/>
                </a:solidFill>
                <a:latin typeface="Aptos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67928" y="3456432"/>
            <a:ext cx="2560320" cy="41148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/>
            <a:r>
              <a:rPr sz="2500" b="1">
                <a:solidFill>
                  <a:srgbClr val="F4E8EE"/>
                </a:solidFill>
                <a:latin typeface="Aptos Display"/>
              </a:rPr>
              <a:t>Connect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67928" y="4069080"/>
            <a:ext cx="2560320" cy="68580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/>
            <a:r>
              <a:rPr sz="1500" b="0">
                <a:solidFill>
                  <a:srgbClr val="F4E8EE"/>
                </a:solidFill>
                <a:latin typeface="Aptos"/>
              </a:rPr>
              <a:t>Wellbeing signals, circles, meetups, DMs, and mutual aid.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577840"/>
            <a:ext cx="10698480" cy="41148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/>
            <a:r>
              <a:rPr sz="1800" b="1">
                <a:solidFill>
                  <a:srgbClr val="F5C46B"/>
                </a:solidFill>
                <a:latin typeface="Aptos"/>
              </a:rPr>
              <a:t>The product is not the number of modules. It is the moment a member finds her next useful action.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6473952"/>
            <a:ext cx="3657600" cy="18288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/>
            <a:r>
              <a:rPr sz="900" b="0">
                <a:solidFill>
                  <a:srgbClr val="F4E8EE"/>
                </a:solidFill>
                <a:latin typeface="Aptos"/>
              </a:rPr>
              <a:t>LEI  /  Hackathon pitch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64240" y="6473952"/>
            <a:ext cx="457200" cy="18288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r"/>
            <a:r>
              <a:rPr sz="900" b="1">
                <a:solidFill>
                  <a:srgbClr val="F5C46B"/>
                </a:solidFill>
                <a:latin typeface="Apto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38912"/>
            <a:ext cx="4114800" cy="27432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/>
            <a:r>
              <a:rPr sz="1000" b="1">
                <a:solidFill>
                  <a:srgbClr val="875D78"/>
                </a:solidFill>
                <a:latin typeface="Aptos"/>
              </a:rPr>
              <a:t>03  / 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68096"/>
            <a:ext cx="10789920" cy="658368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/>
            <a:r>
              <a:rPr sz="2800" b="1">
                <a:solidFill>
                  <a:srgbClr val="241C17"/>
                </a:solidFill>
                <a:latin typeface="Aptos Display"/>
              </a:rPr>
              <a:t>Our demo: one member, one connected journey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05840" cy="36576"/>
          </a:xfrm>
          <a:prstGeom prst="rect">
            <a:avLst/>
          </a:prstGeom>
          <a:solidFill>
            <a:srgbClr val="875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920240"/>
            <a:ext cx="10515600" cy="36576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/>
            <a:r>
              <a:rPr sz="2000" b="0">
                <a:solidFill>
                  <a:srgbClr val="786B62"/>
                </a:solidFill>
                <a:latin typeface="Aptos"/>
              </a:rPr>
              <a:t>Tell this story live instead of clicking every feature.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834640"/>
            <a:ext cx="548640" cy="36576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/>
            <a:r>
              <a:rPr sz="1500" b="1">
                <a:solidFill>
                  <a:srgbClr val="875D78"/>
                </a:solidFill>
                <a:latin typeface="Aptos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1408176" y="3017520"/>
            <a:ext cx="1600200" cy="36576"/>
          </a:xfrm>
          <a:prstGeom prst="rect">
            <a:avLst/>
          </a:prstGeom>
          <a:solidFill>
            <a:srgbClr val="F5C4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3429000"/>
            <a:ext cx="2240280" cy="384048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/>
            <a:r>
              <a:rPr sz="2100" b="1">
                <a:solidFill>
                  <a:srgbClr val="241C17"/>
                </a:solidFill>
                <a:latin typeface="Aptos"/>
              </a:rPr>
              <a:t>Arrive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3977639"/>
            <a:ext cx="2240280" cy="96012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/>
            <a:r>
              <a:rPr sz="1500" b="0">
                <a:solidFill>
                  <a:srgbClr val="786B62"/>
                </a:solidFill>
                <a:latin typeface="Aptos"/>
              </a:rPr>
              <a:t>A welcoming gate asks what she needs today.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84448" y="2834640"/>
            <a:ext cx="548640" cy="36576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/>
            <a:r>
              <a:rPr sz="1500" b="1">
                <a:solidFill>
                  <a:srgbClr val="875D78"/>
                </a:solidFill>
                <a:latin typeface="Aptos"/>
              </a:rPr>
              <a:t>02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42816" y="3017520"/>
            <a:ext cx="1600200" cy="36576"/>
          </a:xfrm>
          <a:prstGeom prst="rect">
            <a:avLst/>
          </a:prstGeom>
          <a:solidFill>
            <a:srgbClr val="F5C4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448" y="3429000"/>
            <a:ext cx="2240280" cy="384048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/>
            <a:r>
              <a:rPr sz="2100" b="1">
                <a:solidFill>
                  <a:srgbClr val="241C17"/>
                </a:solidFill>
                <a:latin typeface="Aptos"/>
              </a:rPr>
              <a:t>Name the need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448" y="3977639"/>
            <a:ext cx="2240280" cy="96012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/>
            <a:r>
              <a:rPr sz="1500" b="0">
                <a:solidFill>
                  <a:srgbClr val="786B62"/>
                </a:solidFill>
                <a:latin typeface="Aptos"/>
              </a:rPr>
              <a:t>She selects ambitious, overwhelmed, or healing.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2834640"/>
            <a:ext cx="548640" cy="36576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/>
            <a:r>
              <a:rPr sz="1500" b="1">
                <a:solidFill>
                  <a:srgbClr val="875D78"/>
                </a:solidFill>
                <a:latin typeface="Aptos"/>
              </a:rPr>
              <a:t>03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77456" y="3017520"/>
            <a:ext cx="1600200" cy="36576"/>
          </a:xfrm>
          <a:prstGeom prst="rect">
            <a:avLst/>
          </a:prstGeom>
          <a:solidFill>
            <a:srgbClr val="F5C4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9088" y="3429000"/>
            <a:ext cx="2240280" cy="384048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/>
            <a:r>
              <a:rPr sz="2100" b="1">
                <a:solidFill>
                  <a:srgbClr val="241C17"/>
                </a:solidFill>
                <a:latin typeface="Aptos"/>
              </a:rPr>
              <a:t>Find support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3977639"/>
            <a:ext cx="2240280" cy="96012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/>
            <a:r>
              <a:rPr sz="1500" b="0">
                <a:solidFill>
                  <a:srgbClr val="786B62"/>
                </a:solidFill>
                <a:latin typeface="Aptos"/>
              </a:rPr>
              <a:t>She sees campus help, career guidance, and safe circles.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53728" y="2834640"/>
            <a:ext cx="548640" cy="36576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/>
            <a:r>
              <a:rPr sz="1500" b="1">
                <a:solidFill>
                  <a:srgbClr val="875D78"/>
                </a:solidFill>
                <a:latin typeface="Aptos"/>
              </a:rPr>
              <a:t>04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12096" y="3017520"/>
            <a:ext cx="1600200" cy="36576"/>
          </a:xfrm>
          <a:prstGeom prst="rect">
            <a:avLst/>
          </a:prstGeom>
          <a:solidFill>
            <a:srgbClr val="F5C4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53728" y="3429000"/>
            <a:ext cx="2240280" cy="384048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/>
            <a:r>
              <a:rPr sz="2100" b="1">
                <a:solidFill>
                  <a:srgbClr val="241C17"/>
                </a:solidFill>
                <a:latin typeface="Aptos"/>
              </a:rPr>
              <a:t>Take action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53728" y="3977639"/>
            <a:ext cx="2240280" cy="96012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/>
            <a:r>
              <a:rPr sz="1500" b="0">
                <a:solidFill>
                  <a:srgbClr val="786B62"/>
                </a:solidFill>
                <a:latin typeface="Aptos"/>
              </a:rPr>
              <a:t>She posts, joins, asks, learns, or connects.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5650992"/>
            <a:ext cx="10698480" cy="384048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/>
            <a:r>
              <a:rPr sz="2000" b="1">
                <a:solidFill>
                  <a:srgbClr val="875D78"/>
                </a:solidFill>
                <a:latin typeface="Aptos"/>
              </a:rPr>
              <a:t>Judge takeaway: Lèi reduces the distance between vulnerability and opportunity.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473952"/>
            <a:ext cx="3657600" cy="18288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/>
            <a:r>
              <a:rPr sz="900" b="0">
                <a:solidFill>
                  <a:srgbClr val="786B62"/>
                </a:solidFill>
                <a:latin typeface="Aptos"/>
              </a:rPr>
              <a:t>LEI  /  Hackathon pitch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64240" y="6473952"/>
            <a:ext cx="457200" cy="18288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r"/>
            <a:r>
              <a:rPr sz="900" b="1">
                <a:solidFill>
                  <a:srgbClr val="875D78"/>
                </a:solidFill>
                <a:latin typeface="Apto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0B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38912"/>
            <a:ext cx="4114800" cy="27432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/>
            <a:r>
              <a:rPr sz="1000" b="1">
                <a:solidFill>
                  <a:srgbClr val="F5C46B"/>
                </a:solidFill>
                <a:latin typeface="Aptos"/>
              </a:rPr>
              <a:t>04  /  TRACK ALIGNMENT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68096"/>
            <a:ext cx="10789920" cy="658368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/>
            <a:r>
              <a:rPr sz="2800" b="1">
                <a:solidFill>
                  <a:srgbClr val="F4E8EE"/>
                </a:solidFill>
                <a:latin typeface="Aptos Display"/>
              </a:rPr>
              <a:t>Built for the track, not adjacent to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05840" cy="36576"/>
          </a:xfrm>
          <a:prstGeom prst="rect">
            <a:avLst/>
          </a:prstGeom>
          <a:solidFill>
            <a:srgbClr val="F5C4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65960"/>
            <a:ext cx="1965960" cy="292608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/>
            <a:r>
              <a:rPr sz="1700" b="1">
                <a:solidFill>
                  <a:srgbClr val="F5C46B"/>
                </a:solidFill>
                <a:latin typeface="Aptos"/>
              </a:rPr>
              <a:t>Education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40" y="1965960"/>
            <a:ext cx="2926080" cy="292608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/>
            <a:r>
              <a:rPr sz="1800" b="1">
                <a:solidFill>
                  <a:srgbClr val="F4E8EE"/>
                </a:solidFill>
                <a:latin typeface="Aptos"/>
              </a:rPr>
              <a:t>Campus SOS + student networks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1947672"/>
            <a:ext cx="5212080" cy="50292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/>
            <a:r>
              <a:rPr sz="1500" b="0">
                <a:solidFill>
                  <a:srgbClr val="F4E8EE"/>
                </a:solidFill>
                <a:latin typeface="Aptos"/>
              </a:rPr>
              <a:t>A student can find immediate help, resources, and peers without leaving her trusted space.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651760"/>
            <a:ext cx="10378440" cy="18288"/>
          </a:xfrm>
          <a:prstGeom prst="rect">
            <a:avLst/>
          </a:prstGeom>
          <a:solidFill>
            <a:srgbClr val="5239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291839"/>
            <a:ext cx="1965960" cy="292608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/>
            <a:r>
              <a:rPr sz="1700" b="1">
                <a:solidFill>
                  <a:srgbClr val="F5C46B"/>
                </a:solidFill>
                <a:latin typeface="Aptos"/>
              </a:rPr>
              <a:t>Career growth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3291839"/>
            <a:ext cx="2926080" cy="292608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/>
            <a:r>
              <a:rPr sz="1800" b="1">
                <a:solidFill>
                  <a:srgbClr val="F4E8EE"/>
                </a:solidFill>
                <a:latin typeface="Aptos"/>
              </a:rPr>
              <a:t>AI concierge + career feed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3273551"/>
            <a:ext cx="5212080" cy="50292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/>
            <a:r>
              <a:rPr sz="1500" b="0">
                <a:solidFill>
                  <a:srgbClr val="F4E8EE"/>
                </a:solidFill>
                <a:latin typeface="Aptos"/>
              </a:rPr>
              <a:t>A member can turn a question into coaching, a conversation, or a concrete next step.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977639"/>
            <a:ext cx="10378440" cy="18288"/>
          </a:xfrm>
          <a:prstGeom prst="rect">
            <a:avLst/>
          </a:prstGeom>
          <a:solidFill>
            <a:srgbClr val="5239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617720"/>
            <a:ext cx="1965960" cy="292608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/>
            <a:r>
              <a:rPr sz="1700" b="1">
                <a:solidFill>
                  <a:srgbClr val="F5C46B"/>
                </a:solidFill>
                <a:latin typeface="Aptos"/>
              </a:rPr>
              <a:t>Meaningful connections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4617720"/>
            <a:ext cx="2926080" cy="292608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/>
            <a:r>
              <a:rPr sz="1800" b="1">
                <a:solidFill>
                  <a:srgbClr val="F4E8EE"/>
                </a:solidFill>
                <a:latin typeface="Aptos"/>
              </a:rPr>
              <a:t>Circles + wellbeing + meetups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4599432"/>
            <a:ext cx="5212080" cy="50292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/>
            <a:r>
              <a:rPr sz="1500" b="0">
                <a:solidFill>
                  <a:srgbClr val="F4E8EE"/>
                </a:solidFill>
                <a:latin typeface="Aptos"/>
              </a:rPr>
              <a:t>The platform makes connection contextual: who I am, what I need, and where I am today.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303520"/>
            <a:ext cx="10378440" cy="18288"/>
          </a:xfrm>
          <a:prstGeom prst="rect">
            <a:avLst/>
          </a:prstGeom>
          <a:solidFill>
            <a:srgbClr val="5239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989320"/>
            <a:ext cx="10515600" cy="32004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/>
            <a:r>
              <a:rPr sz="1900" b="1">
                <a:solidFill>
                  <a:srgbClr val="F5C46B"/>
                </a:solidFill>
                <a:latin typeface="Aptos"/>
              </a:rPr>
              <a:t>A single experience connects all three outcomes.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6473952"/>
            <a:ext cx="3657600" cy="18288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/>
            <a:r>
              <a:rPr sz="900" b="0">
                <a:solidFill>
                  <a:srgbClr val="F4E8EE"/>
                </a:solidFill>
                <a:latin typeface="Aptos"/>
              </a:rPr>
              <a:t>LEI  /  Hackathon pitch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64240" y="6473952"/>
            <a:ext cx="457200" cy="18288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r"/>
            <a:r>
              <a:rPr sz="900" b="1">
                <a:solidFill>
                  <a:srgbClr val="F5C46B"/>
                </a:solidFill>
                <a:latin typeface="Apto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38912"/>
            <a:ext cx="4114800" cy="27432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/>
            <a:r>
              <a:rPr sz="1000" b="1">
                <a:solidFill>
                  <a:srgbClr val="875D78"/>
                </a:solidFill>
                <a:latin typeface="Aptos"/>
              </a:rPr>
              <a:t>05  /  WHY THIS CAN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68096"/>
            <a:ext cx="10789920" cy="658368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/>
            <a:r>
              <a:rPr sz="2800" b="1">
                <a:solidFill>
                  <a:srgbClr val="241C17"/>
                </a:solidFill>
                <a:latin typeface="Aptos Display"/>
              </a:rPr>
              <a:t>Trust is the product feature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05840" cy="36576"/>
          </a:xfrm>
          <a:prstGeom prst="rect">
            <a:avLst/>
          </a:prstGeom>
          <a:solidFill>
            <a:srgbClr val="875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2057400"/>
            <a:ext cx="4800600" cy="12344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58568"/>
            <a:ext cx="4206240" cy="292608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/>
            <a:r>
              <a:rPr sz="1800" b="1">
                <a:solidFill>
                  <a:srgbClr val="241C17"/>
                </a:solidFill>
                <a:latin typeface="Aptos"/>
              </a:rPr>
              <a:t>Protected entry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42616"/>
            <a:ext cx="4206240" cy="45720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/>
            <a:r>
              <a:rPr sz="1400" b="0">
                <a:solidFill>
                  <a:srgbClr val="786B62"/>
                </a:solidFill>
                <a:latin typeface="Aptos"/>
              </a:rPr>
              <a:t>A gated experience and community covenant make the first interaction feel intentional.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057400"/>
            <a:ext cx="4800600" cy="12344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258568"/>
            <a:ext cx="4206240" cy="292608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/>
            <a:r>
              <a:rPr sz="1800" b="1">
                <a:solidFill>
                  <a:srgbClr val="241C17"/>
                </a:solidFill>
                <a:latin typeface="Aptos"/>
              </a:rPr>
              <a:t>Contextual spaces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642616"/>
            <a:ext cx="4206240" cy="45720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/>
            <a:r>
              <a:rPr sz="1400" b="0">
                <a:solidFill>
                  <a:srgbClr val="786B62"/>
                </a:solidFill>
                <a:latin typeface="Aptos"/>
              </a:rPr>
              <a:t>Members choose the space that feels right while keeping a shared welcome realm.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840480"/>
            <a:ext cx="4800600" cy="12344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041648"/>
            <a:ext cx="4206240" cy="292608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/>
            <a:r>
              <a:rPr sz="1800" b="1">
                <a:solidFill>
                  <a:srgbClr val="241C17"/>
                </a:solidFill>
                <a:latin typeface="Aptos"/>
              </a:rPr>
              <a:t>Trauma-informed design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425696"/>
            <a:ext cx="4206240" cy="45720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/>
            <a:r>
              <a:rPr sz="1400" b="0">
                <a:solidFill>
                  <a:srgbClr val="786B62"/>
                </a:solidFill>
                <a:latin typeface="Aptos"/>
              </a:rPr>
              <a:t>Wellbeing is a signal for support, not a label that changes her access or worth.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840480"/>
            <a:ext cx="4800600" cy="12344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4041648"/>
            <a:ext cx="4206240" cy="292608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/>
            <a:r>
              <a:rPr sz="1800" b="1">
                <a:solidFill>
                  <a:srgbClr val="241C17"/>
                </a:solidFill>
                <a:latin typeface="Aptos"/>
              </a:rPr>
              <a:t>Safety by default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425696"/>
            <a:ext cx="4206240" cy="45720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/>
            <a:r>
              <a:rPr sz="1400" b="0">
                <a:solidFill>
                  <a:srgbClr val="786B62"/>
                </a:solidFill>
                <a:latin typeface="Aptos"/>
              </a:rPr>
              <a:t>SOS, reporting, age gates, and privacy controls turn belonging into infrastructure.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897880"/>
            <a:ext cx="10515600" cy="36576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/>
            <a:r>
              <a:rPr sz="1900" b="1">
                <a:solidFill>
                  <a:srgbClr val="875D78"/>
                </a:solidFill>
                <a:latin typeface="Aptos"/>
              </a:rPr>
              <a:t>We are designing for the moment someone decides whether it is safe to stay.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6473952"/>
            <a:ext cx="3657600" cy="18288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/>
            <a:r>
              <a:rPr sz="900" b="0">
                <a:solidFill>
                  <a:srgbClr val="786B62"/>
                </a:solidFill>
                <a:latin typeface="Aptos"/>
              </a:rPr>
              <a:t>LEI  /  Hackathon pitch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64240" y="6473952"/>
            <a:ext cx="457200" cy="18288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r"/>
            <a:r>
              <a:rPr sz="900" b="1">
                <a:solidFill>
                  <a:srgbClr val="875D78"/>
                </a:solidFill>
                <a:latin typeface="Aptos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38912"/>
            <a:ext cx="4114800" cy="27432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/>
            <a:r>
              <a:rPr sz="1000" b="1">
                <a:solidFill>
                  <a:srgbClr val="875D78"/>
                </a:solidFill>
                <a:latin typeface="Aptos"/>
              </a:rPr>
              <a:t>06  / 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68096"/>
            <a:ext cx="10789920" cy="658368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/>
            <a:r>
              <a:rPr sz="2800" b="1">
                <a:solidFill>
                  <a:srgbClr val="241C17"/>
                </a:solidFill>
                <a:latin typeface="Aptos Display"/>
              </a:rPr>
              <a:t>We will measure movement, not vanity metrics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05840" cy="36576"/>
          </a:xfrm>
          <a:prstGeom prst="rect">
            <a:avLst/>
          </a:prstGeom>
          <a:solidFill>
            <a:srgbClr val="875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74519"/>
            <a:ext cx="10789920" cy="50292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/>
            <a:r>
              <a:rPr sz="1900" b="0">
                <a:solidFill>
                  <a:srgbClr val="241C17"/>
                </a:solidFill>
                <a:latin typeface="Aptos"/>
              </a:rPr>
              <a:t>A pilot with campuses and women-led communities can measure whether Lèi creates real momentum: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834640"/>
            <a:ext cx="246888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8407" y="3154680"/>
            <a:ext cx="2011680" cy="32004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/>
            <a:r>
              <a:rPr sz="1800" b="1">
                <a:solidFill>
                  <a:srgbClr val="875D78"/>
                </a:solidFill>
                <a:latin typeface="Aptos"/>
              </a:rPr>
              <a:t>Access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7" y="3703320"/>
            <a:ext cx="1965960" cy="59436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/>
            <a:r>
              <a:rPr sz="1600" b="0">
                <a:solidFill>
                  <a:srgbClr val="241C17"/>
                </a:solidFill>
                <a:latin typeface="Aptos"/>
              </a:rPr>
              <a:t>time to first useful resource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84448" y="2834640"/>
            <a:ext cx="246888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13048" y="3154680"/>
            <a:ext cx="2011680" cy="32004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/>
            <a:r>
              <a:rPr sz="1800" b="1">
                <a:solidFill>
                  <a:srgbClr val="875D78"/>
                </a:solidFill>
                <a:latin typeface="Aptos"/>
              </a:rPr>
              <a:t>Growth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13048" y="3703320"/>
            <a:ext cx="1965960" cy="59436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/>
            <a:r>
              <a:rPr sz="1600" b="0">
                <a:solidFill>
                  <a:srgbClr val="241C17"/>
                </a:solidFill>
                <a:latin typeface="Aptos"/>
              </a:rPr>
              <a:t>career actions started per member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19088" y="2834640"/>
            <a:ext cx="246888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47688" y="3154680"/>
            <a:ext cx="2011680" cy="32004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/>
            <a:r>
              <a:rPr sz="1800" b="1">
                <a:solidFill>
                  <a:srgbClr val="875D78"/>
                </a:solidFill>
                <a:latin typeface="Aptos"/>
              </a:rPr>
              <a:t>Connection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7688" y="3703320"/>
            <a:ext cx="1965960" cy="59436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/>
            <a:r>
              <a:rPr sz="1600" b="0">
                <a:solidFill>
                  <a:srgbClr val="241C17"/>
                </a:solidFill>
                <a:latin typeface="Aptos"/>
              </a:rPr>
              <a:t>meaningful replies and repeat participation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53728" y="2834640"/>
            <a:ext cx="246888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82328" y="3154680"/>
            <a:ext cx="2011680" cy="32004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/>
            <a:r>
              <a:rPr sz="1800" b="1">
                <a:solidFill>
                  <a:srgbClr val="875D78"/>
                </a:solidFill>
                <a:latin typeface="Aptos"/>
              </a:rPr>
              <a:t>Safety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82328" y="3703320"/>
            <a:ext cx="1965960" cy="59436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/>
            <a:r>
              <a:rPr sz="1600" b="0">
                <a:solidFill>
                  <a:srgbClr val="241C17"/>
                </a:solidFill>
                <a:latin typeface="Aptos"/>
              </a:rPr>
              <a:t>resolved SOS and support requests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5486400"/>
            <a:ext cx="10698480" cy="50292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/>
            <a:r>
              <a:rPr sz="2000" b="1">
                <a:solidFill>
                  <a:srgbClr val="2D8A43"/>
                </a:solidFill>
                <a:latin typeface="Aptos"/>
              </a:rPr>
              <a:t>North star: more women leave each interaction with a person, resource, or action that moves them forward.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6473952"/>
            <a:ext cx="3657600" cy="18288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/>
            <a:r>
              <a:rPr sz="900" b="0">
                <a:solidFill>
                  <a:srgbClr val="786B62"/>
                </a:solidFill>
                <a:latin typeface="Aptos"/>
              </a:rPr>
              <a:t>LEI  /  Hackathon pitch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64240" y="6473952"/>
            <a:ext cx="457200" cy="18288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r"/>
            <a:r>
              <a:rPr sz="900" b="1">
                <a:solidFill>
                  <a:srgbClr val="875D78"/>
                </a:solidFill>
                <a:latin typeface="Apto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0B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38912"/>
            <a:ext cx="4114800" cy="27432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/>
            <a:r>
              <a:rPr sz="1000" b="1">
                <a:solidFill>
                  <a:srgbClr val="F5C46B"/>
                </a:solidFill>
                <a:latin typeface="Aptos"/>
              </a:rPr>
              <a:t>07  /  WHAT COMES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68096"/>
            <a:ext cx="10789920" cy="658368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/>
            <a:r>
              <a:rPr sz="2800" b="1">
                <a:solidFill>
                  <a:srgbClr val="F4E8EE"/>
                </a:solidFill>
                <a:latin typeface="Aptos Display"/>
              </a:rPr>
              <a:t>The prototype proves the direction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05840" cy="36576"/>
          </a:xfrm>
          <a:prstGeom prst="rect">
            <a:avLst/>
          </a:prstGeom>
          <a:solidFill>
            <a:srgbClr val="F5C4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148840"/>
            <a:ext cx="2468880" cy="27432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/>
            <a:r>
              <a:rPr sz="1100" b="1">
                <a:solidFill>
                  <a:srgbClr val="F5C46B"/>
                </a:solidFill>
                <a:latin typeface="Aptos"/>
              </a:rPr>
              <a:t>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606040"/>
            <a:ext cx="2834640" cy="68580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/>
            <a:r>
              <a:rPr sz="2300" b="1">
                <a:solidFill>
                  <a:srgbClr val="F4E8EE"/>
                </a:solidFill>
                <a:latin typeface="Aptos Display"/>
              </a:rPr>
              <a:t>Interactive sanctuary prototype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703320"/>
            <a:ext cx="2880360" cy="100584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/>
            <a:r>
              <a:rPr sz="1500" b="0">
                <a:solidFill>
                  <a:srgbClr val="F4E8EE"/>
                </a:solidFill>
                <a:latin typeface="Aptos"/>
              </a:rPr>
              <a:t>Validate the journey and emotional language with real members.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6279" y="2148840"/>
            <a:ext cx="2468880" cy="27432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/>
            <a:r>
              <a:rPr sz="1100" b="1">
                <a:solidFill>
                  <a:srgbClr val="F5C46B"/>
                </a:solidFill>
                <a:latin typeface="Aptos"/>
              </a:rPr>
              <a:t>NEXT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79" y="2606040"/>
            <a:ext cx="2834640" cy="68580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/>
            <a:r>
              <a:rPr sz="2300" b="1">
                <a:solidFill>
                  <a:srgbClr val="F4E8EE"/>
                </a:solidFill>
                <a:latin typeface="Aptos Display"/>
              </a:rPr>
              <a:t>Campus and career pilots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79" y="3703320"/>
            <a:ext cx="2880360" cy="100584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/>
            <a:r>
              <a:rPr sz="1500" b="0">
                <a:solidFill>
                  <a:srgbClr val="F4E8EE"/>
                </a:solidFill>
                <a:latin typeface="Aptos"/>
              </a:rPr>
              <a:t>Partner with one campus and one women-led career community.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19" y="2148840"/>
            <a:ext cx="2468880" cy="27432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/>
            <a:r>
              <a:rPr sz="1100" b="1">
                <a:solidFill>
                  <a:srgbClr val="F5C46B"/>
                </a:solidFill>
                <a:latin typeface="Aptos"/>
              </a:rPr>
              <a:t>THEN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19" y="2606040"/>
            <a:ext cx="2834640" cy="68580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/>
            <a:r>
              <a:rPr sz="2300" b="1">
                <a:solidFill>
                  <a:srgbClr val="F4E8EE"/>
                </a:solidFill>
                <a:latin typeface="Aptos Display"/>
              </a:rPr>
              <a:t>Trusted opportunity graph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19" y="3703320"/>
            <a:ext cx="2880360" cy="100584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/>
            <a:r>
              <a:rPr sz="1500" b="0">
                <a:solidFill>
                  <a:srgbClr val="F4E8EE"/>
                </a:solidFill>
                <a:latin typeface="Aptos"/>
              </a:rPr>
              <a:t>Connect needs to mentors, resources, events, and measurable outcomes.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23560"/>
            <a:ext cx="10607040" cy="50292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/>
            <a:r>
              <a:rPr sz="1900" b="1">
                <a:solidFill>
                  <a:srgbClr val="F5C46B"/>
                </a:solidFill>
                <a:latin typeface="Aptos"/>
              </a:rPr>
              <a:t>We are not asking women to find their way through another platform. We are building a place that helps them move.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473952"/>
            <a:ext cx="3657600" cy="18288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/>
            <a:r>
              <a:rPr sz="900" b="0">
                <a:solidFill>
                  <a:srgbClr val="F4E8EE"/>
                </a:solidFill>
                <a:latin typeface="Aptos"/>
              </a:rPr>
              <a:t>LEI  /  Hackathon pitch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64240" y="6473952"/>
            <a:ext cx="457200" cy="18288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r"/>
            <a:r>
              <a:rPr sz="900" b="1">
                <a:solidFill>
                  <a:srgbClr val="F5C46B"/>
                </a:solidFill>
                <a:latin typeface="Aptos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0B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143000"/>
            <a:ext cx="2743200" cy="45720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/>
            <a:r>
              <a:rPr sz="1700" b="1">
                <a:solidFill>
                  <a:srgbClr val="F5C46B"/>
                </a:solidFill>
                <a:latin typeface="Aptos"/>
              </a:rPr>
              <a:t>LEI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057400"/>
            <a:ext cx="8412480" cy="146304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/>
            <a:r>
              <a:rPr sz="3600" b="1">
                <a:solidFill>
                  <a:srgbClr val="F4E8EE"/>
                </a:solidFill>
                <a:latin typeface="Aptos Display"/>
              </a:rPr>
              <a:t>Everything for HER.
Connect. Discover. Grow.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251960"/>
            <a:ext cx="6858000" cy="41148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/>
            <a:r>
              <a:rPr sz="2100" b="0">
                <a:solidFill>
                  <a:srgbClr val="F5C46B"/>
                </a:solidFill>
                <a:latin typeface="Aptos"/>
              </a:rPr>
              <a:t>A protected ecosystem for the next step.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669280"/>
            <a:ext cx="7132320" cy="27432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/>
            <a:r>
              <a:rPr sz="1200" b="0">
                <a:solidFill>
                  <a:srgbClr val="F4E8EE"/>
                </a:solidFill>
                <a:latin typeface="Aptos"/>
              </a:rPr>
              <a:t>Live demo: pkyeibrewu1.github.io/LEI/?developer=1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73952"/>
            <a:ext cx="3657600" cy="18288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l"/>
            <a:r>
              <a:rPr sz="900" b="0">
                <a:solidFill>
                  <a:srgbClr val="F4E8EE"/>
                </a:solidFill>
                <a:latin typeface="Aptos"/>
              </a:rPr>
              <a:t>LEI  /  Hackathon pitch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457200" cy="182880"/>
          </a:xfrm>
          <a:prstGeom prst="rect">
            <a:avLst/>
          </a:prstGeom>
          <a:noFill/>
        </p:spPr>
        <p:txBody>
          <a:bodyPr wrap="square" lIns="18288" rIns="18288" anchor="ctr">
            <a:spAutoFit/>
          </a:bodyPr>
          <a:lstStyle/>
          <a:p>
            <a:pPr algn="r"/>
            <a:r>
              <a:rPr sz="900" b="1">
                <a:solidFill>
                  <a:srgbClr val="F5C46B"/>
                </a:solidFill>
                <a:latin typeface="Aptos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