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-914400"/>
            <a:ext cx="5669280" cy="6400800"/>
          </a:xfrm>
          <a:prstGeom prst="roundRect">
            <a:avLst/>
          </a:prstGeom>
          <a:solidFill>
            <a:srgbClr val="4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09760" y="1005840"/>
            <a:ext cx="3383280" cy="4389120"/>
          </a:xfrm>
          <a:prstGeom prst="roundRect">
            <a:avLst/>
          </a:prstGeom>
          <a:solidFill>
            <a:srgbClr val="F5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0760000">
            <a:off x="17785080" y="47594520"/>
            <a:ext cx="48280320" cy="1056132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1180000">
            <a:off x="38907720" y="14401800"/>
            <a:ext cx="48280320" cy="1056132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30359" y="-685800"/>
            <a:ext cx="48280320" cy="1056132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420000">
            <a:off x="81152999" y="14401800"/>
            <a:ext cx="48280320" cy="1056132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840000">
            <a:off x="102275640" y="47594520"/>
            <a:ext cx="48280320" cy="1056132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95320" y="43068239"/>
            <a:ext cx="60350400" cy="60350400"/>
          </a:xfrm>
          <a:prstGeom prst="roundRect">
            <a:avLst/>
          </a:prstGeom>
          <a:solidFill>
            <a:srgbClr val="F5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1480000">
            <a:off x="81152999" y="95874840"/>
            <a:ext cx="6035040" cy="218770200"/>
          </a:xfrm>
          <a:prstGeom prst="rect">
            <a:avLst/>
          </a:prstGeom>
          <a:solidFill>
            <a:srgbClr val="5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749808"/>
            <a:ext cx="320040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F5C46B"/>
                </a:solidFill>
                <a:latin typeface="Aptos"/>
              </a:rPr>
              <a:t>LÈI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6675120" cy="21945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3400" b="1">
                <a:solidFill>
                  <a:srgbClr val="EEDCE6"/>
                </a:solidFill>
                <a:latin typeface="Aptos Display"/>
              </a:rPr>
              <a:t>The internet was built
for engagement.
Women need it built
for safety.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6583680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800" b="0">
                <a:solidFill>
                  <a:srgbClr val="EEDCE6"/>
                </a:solidFill>
                <a:latin typeface="Aptos"/>
              </a:rPr>
              <a:t>Every day, women navigate digital spaces that are fragmented, unsafe, or optimized for engagement rather than safety.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30368"/>
            <a:ext cx="667512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600" b="1">
                <a:solidFill>
                  <a:srgbClr val="F5C46B"/>
                </a:solidFill>
                <a:latin typeface="Aptos"/>
              </a:rPr>
              <a:t>Meet Lèi - a gated, trauma-informed digital ecosystem built exclusively for women to connect, discover, and grow safely.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EEDCE6"/>
                </a:solidFill>
                <a:latin typeface="Aptos"/>
              </a:rPr>
              <a:t>LEI  /  Hackathon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F5C46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5C46B"/>
                </a:solidFill>
                <a:latin typeface="Aptos"/>
              </a:rPr>
              <a:t>02  /  TRACK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07040" cy="6858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900" b="1">
                <a:solidFill>
                  <a:srgbClr val="EEDCE6"/>
                </a:solidFill>
                <a:latin typeface="Aptos Display"/>
              </a:rPr>
              <a:t>Empowerment becomes tangible when support leads somewhere.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960120" cy="36576"/>
          </a:xfrm>
          <a:prstGeom prst="rect">
            <a:avLst/>
          </a:prstGeom>
          <a:solidFill>
            <a:srgbClr val="F5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EEDCE6"/>
                </a:solidFill>
                <a:latin typeface="Aptos"/>
              </a:rPr>
              <a:t>LEI  /  Hackathon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F5C46B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0607040" cy="43891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EEDCE6"/>
                </a:solidFill>
                <a:latin typeface="Aptos"/>
              </a:rPr>
              <a:t>Lèi goes beyond a chat app: it turns knowledge, opportunity, and immediate help into an accessible daily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80"/>
            <a:ext cx="3246120" cy="2423160"/>
          </a:xfrm>
          <a:prstGeom prst="roundRect">
            <a:avLst/>
          </a:prstGeom>
          <a:solidFill>
            <a:srgbClr val="2A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697480"/>
            <a:ext cx="91440" cy="2423160"/>
          </a:xfrm>
          <a:prstGeom prst="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2971800"/>
            <a:ext cx="2514600" cy="21945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5C46B"/>
                </a:solidFill>
                <a:latin typeface="Aptos"/>
              </a:rPr>
              <a:t>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364992"/>
            <a:ext cx="2651760" cy="4572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200" b="1">
                <a:solidFill>
                  <a:srgbClr val="EEDCE6"/>
                </a:solidFill>
                <a:latin typeface="Aptos Display"/>
              </a:rPr>
              <a:t>Discord-style hubs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4069080"/>
            <a:ext cx="2651760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EEDCE6"/>
                </a:solidFill>
                <a:latin typeface="Aptos"/>
              </a:rPr>
              <a:t>Women in STEM, higher education, grad research, and first-gen communities share knowledge and opportunities.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2697480"/>
            <a:ext cx="3246120" cy="2423160"/>
          </a:xfrm>
          <a:prstGeom prst="roundRect">
            <a:avLst/>
          </a:prstGeom>
          <a:solidFill>
            <a:srgbClr val="2A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2697480"/>
            <a:ext cx="91440" cy="2423160"/>
          </a:xfrm>
          <a:prstGeom prst="rect">
            <a:avLst/>
          </a:prstGeom>
          <a:solidFill>
            <a:srgbClr val="F5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971800"/>
            <a:ext cx="2514600" cy="21945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5C46B"/>
                </a:solidFill>
                <a:latin typeface="Aptos"/>
              </a:rPr>
              <a:t>MUTUAL 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3364992"/>
            <a:ext cx="2651760" cy="4572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200" b="1">
                <a:solidFill>
                  <a:srgbClr val="EEDCE6"/>
                </a:solidFill>
                <a:latin typeface="Aptos Display"/>
              </a:rPr>
              <a:t>Campus 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069080"/>
            <a:ext cx="2651760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EEDCE6"/>
                </a:solidFill>
                <a:latin typeface="Aptos"/>
              </a:rPr>
              <a:t>A student at GSU can request a sanitary pad, form a study circle, or reach nearby peers in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2697480"/>
            <a:ext cx="3246120" cy="2423160"/>
          </a:xfrm>
          <a:prstGeom prst="roundRect">
            <a:avLst/>
          </a:prstGeom>
          <a:solidFill>
            <a:srgbClr val="2A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47888" y="2697480"/>
            <a:ext cx="91440" cy="2423160"/>
          </a:xfrm>
          <a:prstGeom prst="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971800"/>
            <a:ext cx="2514600" cy="21945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5C46B"/>
                </a:solidFill>
                <a:latin typeface="Aptos"/>
              </a:rPr>
              <a:t>CAREER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364992"/>
            <a:ext cx="2651760" cy="4572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200" b="1">
                <a:solidFill>
                  <a:srgbClr val="EEDCE6"/>
                </a:solidFill>
                <a:latin typeface="Aptos Display"/>
              </a:rPr>
              <a:t>Lèi AI Concierge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4069080"/>
            <a:ext cx="2651760" cy="7772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EEDCE6"/>
                </a:solidFill>
                <a:latin typeface="Aptos"/>
              </a:rPr>
              <a:t>Resume feedback, career coaching, wellness grounding, and a clear next action in one private conversation.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715000"/>
            <a:ext cx="1060704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F5C46B"/>
                </a:solidFill>
                <a:latin typeface="Aptos"/>
              </a:rPr>
              <a:t>Track outcome: more access to learning, more career agency, more women able to help one another.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5C46B"/>
                </a:solidFill>
                <a:latin typeface="Aptos"/>
              </a:rPr>
              <a:t>03  /  MEANINGFUL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07040" cy="6858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900" b="1">
                <a:solidFill>
                  <a:srgbClr val="EEDCE6"/>
                </a:solidFill>
                <a:latin typeface="Aptos Display"/>
              </a:rPr>
              <a:t>Digital connection should translate into real-world safety.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960120" cy="36576"/>
          </a:xfrm>
          <a:prstGeom prst="rect">
            <a:avLst/>
          </a:prstGeom>
          <a:solidFill>
            <a:srgbClr val="F5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EEDCE6"/>
                </a:solidFill>
                <a:latin typeface="Aptos"/>
              </a:rPr>
              <a:t>LEI  /  Hackathon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F5C46B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0607040" cy="43891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241C17"/>
                </a:solidFill>
                <a:latin typeface="Aptos"/>
              </a:rPr>
              <a:t>Lèi gives connection context: how I feel, where I am, and what kind of support I need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80"/>
            <a:ext cx="3246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651760" cy="2286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43283A"/>
                </a:solidFill>
                <a:latin typeface="Aptos"/>
              </a:rPr>
              <a:t>WELLBEING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55848"/>
            <a:ext cx="2651760" cy="56692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000" b="1">
                <a:solidFill>
                  <a:srgbClr val="241C17"/>
                </a:solidFill>
                <a:latin typeface="Aptos Display"/>
              </a:rPr>
              <a:t>What part of HER are you today?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670048" cy="71323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786B62"/>
                </a:solidFill>
                <a:latin typeface="Aptos"/>
              </a:rPr>
              <a:t>Teams-style status lets members signal their state without changing what the algorithm shows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2697480"/>
            <a:ext cx="3246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971800"/>
            <a:ext cx="2651760" cy="2286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43283A"/>
                </a:solidFill>
                <a:latin typeface="Aptos"/>
              </a:rPr>
              <a:t>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55848"/>
            <a:ext cx="2651760" cy="56692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000" b="1">
                <a:solidFill>
                  <a:srgbClr val="241C17"/>
                </a:solidFill>
                <a:latin typeface="Aptos Display"/>
              </a:rPr>
              <a:t>USA City Meetups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14800"/>
            <a:ext cx="2670048" cy="71323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786B62"/>
                </a:solidFill>
                <a:latin typeface="Aptos"/>
              </a:rPr>
              <a:t>Filter by city and state to build trusted friendships in verified public settings, like NFS in Atlanta.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2697480"/>
            <a:ext cx="3246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971800"/>
            <a:ext cx="2651760" cy="2286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43283A"/>
                </a:solidFill>
                <a:latin typeface="Aptos"/>
              </a:rP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3355848"/>
            <a:ext cx="2651760" cy="566928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000" b="1">
                <a:solidFill>
                  <a:srgbClr val="241C17"/>
                </a:solidFill>
                <a:latin typeface="Aptos Display"/>
              </a:rPr>
              <a:t>Beacons and legal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4114800"/>
            <a:ext cx="2670048" cy="71323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786B62"/>
                </a:solidFill>
                <a:latin typeface="Aptos"/>
              </a:rPr>
              <a:t>Safety beacons, rights guides, emergency hotlines, and support timers connect digital care to physical reality.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15000"/>
            <a:ext cx="1060704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43283A"/>
                </a:solidFill>
                <a:latin typeface="Aptos"/>
              </a:rPr>
              <a:t>Meaningful connection is not a metric. It is a person knowing where to turn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5029200" cy="2286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5C46B"/>
                </a:solidFill>
                <a:latin typeface="Aptos"/>
              </a:rPr>
              <a:t>04  /  TECHNICAL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10607040" cy="68580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900" b="1">
                <a:solidFill>
                  <a:srgbClr val="EEDCE6"/>
                </a:solidFill>
                <a:latin typeface="Aptos Display"/>
              </a:rPr>
              <a:t>Trust is not a setting. It is the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36192"/>
            <a:ext cx="960120" cy="36576"/>
          </a:xfrm>
          <a:prstGeom prst="rect">
            <a:avLst/>
          </a:prstGeom>
          <a:solidFill>
            <a:srgbClr val="F5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EEDCE6"/>
                </a:solidFill>
                <a:latin typeface="Aptos"/>
              </a:rPr>
              <a:t>LEI  /  Hackathon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F5C46B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0607040" cy="43891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900" b="0">
                <a:solidFill>
                  <a:srgbClr val="241C17"/>
                </a:solidFill>
                <a:latin typeface="Aptos"/>
              </a:rPr>
              <a:t>Lèi treats safety as the foundation that makes education, career growth, and connection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80"/>
            <a:ext cx="104241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50292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500" b="1">
                <a:solidFill>
                  <a:srgbClr val="43283A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34640"/>
            <a:ext cx="274320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241C17"/>
                </a:solidFill>
                <a:latin typeface="Aptos"/>
              </a:rPr>
              <a:t>Credential uniqueness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07208"/>
            <a:ext cx="608076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786B62"/>
                </a:solidFill>
                <a:latin typeface="Aptos"/>
              </a:rPr>
              <a:t>Phone and email indexing reduce burner accounts and duplicate signups.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657600"/>
            <a:ext cx="104241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22191"/>
            <a:ext cx="50292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500" b="1">
                <a:solidFill>
                  <a:srgbClr val="43283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94760"/>
            <a:ext cx="274320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241C17"/>
                </a:solidFill>
                <a:latin typeface="Aptos"/>
              </a:rPr>
              <a:t>Multi-factor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67328"/>
            <a:ext cx="608076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786B62"/>
                </a:solidFill>
                <a:latin typeface="Aptos"/>
              </a:rPr>
              <a:t>Camera liveness checks through MediaDevices API plus real 6-digit SMS verification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617720"/>
            <a:ext cx="104241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82312"/>
            <a:ext cx="502920" cy="32004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500" b="1">
                <a:solidFill>
                  <a:srgbClr val="43283A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54880"/>
            <a:ext cx="2743200" cy="2743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241C17"/>
                </a:solidFill>
                <a:latin typeface="Aptos"/>
              </a:rPr>
              <a:t>Spatial 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27448"/>
            <a:ext cx="608076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400" b="0">
                <a:solidFill>
                  <a:srgbClr val="786B62"/>
                </a:solidFill>
                <a:latin typeface="Aptos"/>
              </a:rPr>
              <a:t>Members choose a primary sanctuary space; cross-space access is locked behind an appeal workflow.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806440"/>
            <a:ext cx="10607040" cy="36576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2D8A43"/>
                </a:solidFill>
                <a:latin typeface="Aptos"/>
              </a:rPr>
              <a:t>The technical edge is not surveillance. It is intentional boundaries that protect agency.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731520"/>
            <a:ext cx="5120640" cy="6583680"/>
          </a:xfrm>
          <a:prstGeom prst="roundRect">
            <a:avLst/>
          </a:prstGeom>
          <a:solidFill>
            <a:srgbClr val="4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760000">
            <a:off x="19019520" y="51206400"/>
            <a:ext cx="52669440" cy="1152144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80000">
            <a:off x="42062400" y="14996159"/>
            <a:ext cx="52669440" cy="1152144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05280" y="-1463040"/>
            <a:ext cx="52669440" cy="1152144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420000">
            <a:off x="88148160" y="14996159"/>
            <a:ext cx="52669440" cy="1152144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840000">
            <a:off x="111191040" y="51206400"/>
            <a:ext cx="52669440" cy="115214400"/>
          </a:xfrm>
          <a:prstGeom prst="roundRect">
            <a:avLst/>
          </a:prstGeom>
          <a:solidFill>
            <a:srgbClr val="B98D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00" y="46268640"/>
            <a:ext cx="65836800" cy="65836800"/>
          </a:xfrm>
          <a:prstGeom prst="roundRect">
            <a:avLst/>
          </a:prstGeom>
          <a:solidFill>
            <a:srgbClr val="F5C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80000">
            <a:off x="88148160" y="103875840"/>
            <a:ext cx="6583680" cy="238658400"/>
          </a:xfrm>
          <a:prstGeom prst="rect">
            <a:avLst/>
          </a:prstGeom>
          <a:solidFill>
            <a:srgbClr val="5A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960120"/>
            <a:ext cx="274320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F5C46B"/>
                </a:solidFill>
                <a:latin typeface="Aptos"/>
              </a:rPr>
              <a:t>LÈI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6858000" cy="11887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3700" b="1">
                <a:solidFill>
                  <a:srgbClr val="EEDCE6"/>
                </a:solidFill>
                <a:latin typeface="Aptos Display"/>
              </a:rPr>
              <a:t>Infrastructure for
women's autonomy.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49039"/>
            <a:ext cx="6766560" cy="50292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200" b="1">
                <a:solidFill>
                  <a:srgbClr val="F5C46B"/>
                </a:solidFill>
                <a:latin typeface="Aptos"/>
              </a:rPr>
              <a:t>When women are safe, supported, and connected, they change the world.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2743200" cy="4114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2000" b="0">
                <a:solidFill>
                  <a:srgbClr val="EEDCE6"/>
                </a:solidFill>
                <a:latin typeface="Aptos"/>
              </a:rPr>
              <a:t>Thank you.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87568"/>
            <a:ext cx="6858000" cy="256032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1100" b="0">
                <a:solidFill>
                  <a:srgbClr val="EEDCE6"/>
                </a:solidFill>
                <a:latin typeface="Aptos"/>
              </a:rPr>
              <a:t>Live demo: pkyeibrewu1.github.io/LEI/?developer=1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36576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EEDCE6"/>
                </a:solidFill>
                <a:latin typeface="Aptos"/>
              </a:rPr>
              <a:t>LEI  /  Hackathon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F5C46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